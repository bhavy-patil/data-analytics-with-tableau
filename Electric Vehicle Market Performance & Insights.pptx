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43671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35509"/>
            <a:ext cx="1150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ADE80"/>
                </a:solidFill>
                <a:latin typeface="Space Grotesk"/>
              </a:rPr>
              <a:t>DATA ANALYTICS WITH TABLEAU •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8884"/>
            <a:ext cx="930116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Space Grotesk"/>
              </a:rPr>
              <a:t>Electric Vehicle Market Performance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98515"/>
            <a:ext cx="6953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200,000-Record Industry Benchmark, Interactive Dashboard Architecture &amp; Business Intelligence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41515"/>
            <a:ext cx="163826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Inter"/>
              </a:rPr>
              <a:t>Lead Analyst: </a:t>
            </a:r>
            <a:r>
              <a:rPr sz="1125" b="1" i="0" u="none" dirty="0">
                <a:solidFill>
                  <a:srgbClr val="F8FAFC"/>
                </a:solidFill>
                <a:latin typeface="Inter"/>
              </a:rPr>
              <a:t>Bhavy Patil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 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2295525"/>
            <a:ext cx="3524250" cy="1247775"/>
          </a:xfrm>
          <a:prstGeom prst="roundRect">
            <a:avLst>
              <a:gd name="adj" fmla="val 916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3875" y="2295525"/>
            <a:ext cx="3524250" cy="1247775"/>
          </a:xfrm>
          <a:prstGeom prst="roundRect">
            <a:avLst>
              <a:gd name="adj" fmla="val 916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8625" y="2295525"/>
            <a:ext cx="3524250" cy="1247775"/>
          </a:xfrm>
          <a:prstGeom prst="roundRect">
            <a:avLst>
              <a:gd name="adj" fmla="val 916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3733800"/>
            <a:ext cx="3524250" cy="1247775"/>
          </a:xfrm>
          <a:prstGeom prst="roundRect">
            <a:avLst>
              <a:gd name="adj" fmla="val 916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3875" y="3733800"/>
            <a:ext cx="3524250" cy="1247775"/>
          </a:xfrm>
          <a:prstGeom prst="roundRect">
            <a:avLst>
              <a:gd name="adj" fmla="val 916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8625" y="3733800"/>
            <a:ext cx="3524250" cy="1247775"/>
          </a:xfrm>
          <a:prstGeom prst="roundRect">
            <a:avLst>
              <a:gd name="adj" fmla="val 916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381000" y="6219825"/>
            <a:ext cx="12954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Baseline metrics established across 200,000 production records in the Tableau data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EXECUTIVE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EV Market Performance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533650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Total Manufacturers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771775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5803D"/>
                </a:solidFill>
                <a:latin typeface="Space Grotesk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533650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Total EV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2771775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5803D"/>
                </a:solidFill>
                <a:latin typeface="Space Grotesk"/>
              </a:rPr>
              <a:t>17,980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850" y="2533650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Total Annual EV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2771775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5803D"/>
                </a:solidFill>
                <a:latin typeface="Space Grotesk"/>
              </a:rPr>
              <a:t>$1,550.7M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3971925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Average Customer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4210050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5803D"/>
                </a:solidFill>
                <a:latin typeface="Space Grotesk"/>
              </a:rPr>
              <a:t>4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3971925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Average Driving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0100" y="4210050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5803D"/>
                </a:solidFill>
                <a:latin typeface="Space Grotesk"/>
              </a:rPr>
              <a:t>324.54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850" y="3971925"/>
            <a:ext cx="3714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Average Battery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50" y="4210050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5803D"/>
                </a:solidFill>
                <a:latin typeface="Space Grotesk"/>
              </a:rPr>
              <a:t>78.2 kWh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38325"/>
            <a:ext cx="6916787" cy="3676650"/>
          </a:xfrm>
          <a:prstGeom prst="roundRect">
            <a:avLst>
              <a:gd name="adj" fmla="val 3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69287" y="2059483"/>
            <a:ext cx="3713112" cy="963810"/>
          </a:xfrm>
          <a:prstGeom prst="roundRect">
            <a:avLst>
              <a:gd name="adj" fmla="val 3953"/>
            </a:avLst>
          </a:prstGeom>
          <a:solidFill>
            <a:srgbClr val="F4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69287" y="3175694"/>
            <a:ext cx="3713112" cy="9828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69287" y="4310955"/>
            <a:ext cx="3713112" cy="9828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69287" y="2059483"/>
            <a:ext cx="38100" cy="96381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9187" y="2219325"/>
            <a:ext cx="685800" cy="2286000"/>
          </a:xfrm>
          <a:prstGeom prst="roundRect">
            <a:avLst>
              <a:gd name="adj" fmla="val 8333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29172" y="2505075"/>
            <a:ext cx="685800" cy="2000250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34395" y="2790825"/>
            <a:ext cx="685800" cy="1714500"/>
          </a:xfrm>
          <a:prstGeom prst="roundRect">
            <a:avLst>
              <a:gd name="adj" fmla="val 833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91992" y="3076575"/>
            <a:ext cx="685800" cy="142875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2453" y="3362325"/>
            <a:ext cx="685800" cy="1143000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VOLUME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EV Category Performance &amp;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48109" y="5086350"/>
            <a:ext cx="786017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64748B"/>
                </a:solidFill>
                <a:latin typeface="Inter"/>
              </a:rPr>
              <a:t>Source: Tableau EV Category Worksheet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8837" y="2230933"/>
            <a:ext cx="41131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Urban Commuter Dominance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8837" y="2478583"/>
            <a:ext cx="342736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Hatchbacks and three-wheelers form over 50% of urban micro-mobility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0262" y="3356669"/>
            <a:ext cx="41417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Commercial Electrification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0262" y="3604319"/>
            <a:ext cx="34464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Electric trucks and buses represent 20K production units with high battery demands.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0262" y="4491930"/>
            <a:ext cx="41417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Persona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0262" y="4739580"/>
            <a:ext cx="34464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Directly answers Emily Johnson's core requirement on volume category prioritization.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7787" y="1962150"/>
            <a:ext cx="514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17K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4600575"/>
            <a:ext cx="981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Hatchback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3010" y="2247900"/>
            <a:ext cx="523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15K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6772" y="4600575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Three-Wheeler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8232" y="2533650"/>
            <a:ext cx="523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13K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9157" y="4600575"/>
            <a:ext cx="9620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Micro 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117" y="2819400"/>
            <a:ext cx="4953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11K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7217" y="4600575"/>
            <a:ext cx="1181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Electric Truck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4865" y="3105150"/>
            <a:ext cx="466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9K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9590" y="4600575"/>
            <a:ext cx="10572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Electric Bus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95462"/>
            <a:ext cx="6904583" cy="3762375"/>
          </a:xfrm>
          <a:prstGeom prst="roundRect">
            <a:avLst>
              <a:gd name="adj" fmla="val 30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57083" y="2493168"/>
            <a:ext cx="3725316" cy="2366962"/>
          </a:xfrm>
          <a:prstGeom prst="roundRect">
            <a:avLst>
              <a:gd name="adj" fmla="val 4828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2309812"/>
            <a:ext cx="6275933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2986087"/>
            <a:ext cx="6275933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3662362"/>
            <a:ext cx="6275933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925" y="4338637"/>
            <a:ext cx="6275933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3925" y="5014912"/>
            <a:ext cx="6275933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925" y="2309812"/>
            <a:ext cx="5930651" cy="266700"/>
          </a:xfrm>
          <a:prstGeom prst="roundRect">
            <a:avLst>
              <a:gd name="adj" fmla="val 21428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925" y="2986087"/>
            <a:ext cx="5598021" cy="266700"/>
          </a:xfrm>
          <a:prstGeom prst="roundRect">
            <a:avLst>
              <a:gd name="adj" fmla="val 21428"/>
            </a:avLst>
          </a:prstGeom>
          <a:solidFill>
            <a:srgbClr val="E09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3925" y="3662362"/>
            <a:ext cx="5510212" cy="266700"/>
          </a:xfrm>
          <a:prstGeom prst="roundRect">
            <a:avLst>
              <a:gd name="adj" fmla="val 21428"/>
            </a:avLst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3925" y="4338637"/>
            <a:ext cx="5497710" cy="266700"/>
          </a:xfrm>
          <a:prstGeom prst="roundRect">
            <a:avLst>
              <a:gd name="adj" fmla="val 21428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3925" y="5014912"/>
            <a:ext cx="5491311" cy="266700"/>
          </a:xfrm>
          <a:prstGeom prst="roundRect">
            <a:avLst>
              <a:gd name="adj" fmla="val 21428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COMPETITIVE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Market Share by Manufacturer (Annual Sales)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3308" y="2769393"/>
            <a:ext cx="405869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Inter"/>
              </a:rPr>
              <a:t>OEM Benchmarking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3308" y="3083718"/>
            <a:ext cx="326811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AmpereWorks leads the competitive ecosystem with $9.45M annual unit sales.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308" y="3645693"/>
            <a:ext cx="3268116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Close competition between CircuitWorks, MomentumMobility, and SurgeDynamics creates a tightly contested mid-tier tier.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308" y="4421981"/>
            <a:ext cx="396608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Targeted BI Solution for David Chen.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2071687"/>
            <a:ext cx="1276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AmpereWorks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7358" y="2071687"/>
            <a:ext cx="123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$9.45M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747962"/>
            <a:ext cx="1200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CircuitWorks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7358" y="2747962"/>
            <a:ext cx="123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$8.92M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424237"/>
            <a:ext cx="1702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MomentumMobility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7358" y="3424237"/>
            <a:ext cx="123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$8.78M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100512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SurgeDynamics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7358" y="4100512"/>
            <a:ext cx="123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$8.76M Units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4776787"/>
            <a:ext cx="1152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TerraMotors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6883" y="4776787"/>
            <a:ext cx="12287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$8.75M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66345" y="2319337"/>
            <a:ext cx="5816054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6345" y="2871787"/>
            <a:ext cx="5816054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66345" y="3424237"/>
            <a:ext cx="5816054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66345" y="3976687"/>
            <a:ext cx="5816054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6345" y="4529137"/>
            <a:ext cx="5816054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7320" y="247173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7320" y="302418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7320" y="357663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7320" y="412908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7320" y="468153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3575"/>
            <a:ext cx="4775745" cy="34194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381000" y="6238875"/>
            <a:ext cx="1295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Addresses Dr. Sarah Williams' research on raw material dependency and supply chain sustainability.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CLEAN TECH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Battery Technology Market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0" y="2443162"/>
            <a:ext cx="6381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6625" y="2995612"/>
            <a:ext cx="590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6625" y="3548062"/>
            <a:ext cx="590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77575" y="4100512"/>
            <a:ext cx="609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3775" y="4652962"/>
            <a:ext cx="533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5920" y="2447925"/>
            <a:ext cx="2833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NMC (Nickel Manganese Cobalt)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5920" y="3000375"/>
            <a:ext cx="2488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LFP (Lithium Iron Phosphate)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5920" y="3552825"/>
            <a:ext cx="2667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NCA (Nickel Cobalt Aluminum)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5920" y="4105275"/>
            <a:ext cx="10858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Sodium-Ion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5920" y="4657725"/>
            <a:ext cx="1976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Solid-State (Emerging)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62625"/>
            <a:ext cx="5391150" cy="638175"/>
          </a:xfrm>
          <a:prstGeom prst="roundRect">
            <a:avLst>
              <a:gd name="adj" fmla="val 11940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5762625"/>
            <a:ext cx="5391150" cy="638175"/>
          </a:xfrm>
          <a:prstGeom prst="roundRect">
            <a:avLst>
              <a:gd name="adj" fmla="val 1194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62100"/>
            <a:ext cx="10972800" cy="368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MARKET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Annual EV Sales Trend by Model Year (2018–2026)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675" y="4848225"/>
            <a:ext cx="600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937" y="4848225"/>
            <a:ext cx="600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4200" y="4848225"/>
            <a:ext cx="1266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2020 (20.44M)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8212" y="4848225"/>
            <a:ext cx="600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5475" y="4848225"/>
            <a:ext cx="6286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1312" y="4848225"/>
            <a:ext cx="6286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7150" y="4848225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2024 (20.62M Peak)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3587" y="4848225"/>
            <a:ext cx="6286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9425" y="4848225"/>
            <a:ext cx="6286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905500"/>
            <a:ext cx="6238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20.62M Units Peak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6105525"/>
            <a:ext cx="6238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Mass-market adoption scaled rapidly between 2022 and 2024.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5905500"/>
            <a:ext cx="5800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Dual-Tier Acceleration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6105525"/>
            <a:ext cx="58007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Consistent parallel expansion across mass commuters and premium platforms.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24112"/>
            <a:ext cx="53340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424112"/>
            <a:ext cx="53340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005137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433762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862387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4291012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6525" y="3005137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6525" y="3433762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6525" y="3862387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86525" y="4291012"/>
            <a:ext cx="4857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71762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671762"/>
            <a:ext cx="18097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6238875"/>
            <a:ext cx="1295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Data verified across 200,000 observations matching Tableau Treemap and Geographic Map 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GLOBAL DISTRIBUTION &amp;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Manufacturing Footprint &amp; Category Ratings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662237"/>
            <a:ext cx="6375796" cy="19050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5803D"/>
                </a:solidFill>
                <a:latin typeface="Inter"/>
              </a:rPr>
              <a:t>Top Manufacturing Hubs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662237"/>
            <a:ext cx="5705475" cy="19050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Inter"/>
              </a:rPr>
              <a:t>Customer Satisfaction by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090862"/>
            <a:ext cx="609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2950" y="3090862"/>
            <a:ext cx="13144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20,231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3519487"/>
            <a:ext cx="11620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United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75" y="3519487"/>
            <a:ext cx="13430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20,086 Vehicles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3948112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China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4375" y="3948112"/>
            <a:ext cx="13430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20,082 Vehicles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4376737"/>
            <a:ext cx="8763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Germany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2950" y="4376737"/>
            <a:ext cx="13144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20,010 Vehicles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090862"/>
            <a:ext cx="1797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Two-Wheeler Scooter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3125" y="3090862"/>
            <a:ext cx="1821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19,253 Records (4.1/5)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519487"/>
            <a:ext cx="6953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Sedan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600" y="3519487"/>
            <a:ext cx="1833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16,919 Records (4.2/5)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3948112"/>
            <a:ext cx="981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Hatchback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5025" y="3948112"/>
            <a:ext cx="1869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16,832 Records (4.0/5)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0350" y="4376737"/>
            <a:ext cx="1190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Compact SUV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4550" y="4376737"/>
            <a:ext cx="1857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16,794 Records (4.0/5)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430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383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336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2289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7242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2195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7148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5210175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NARRATIVE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Tableau Story Architecture (8 Scenes)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18478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675" y="1852612"/>
            <a:ext cx="6453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EV Market Performance at a Glance • Baseline metrics, total sales &amp;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3431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0675" y="2347912"/>
            <a:ext cx="752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Understanding EV Category Distribution • Hatchback &amp; two-wheeler volume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28384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0675" y="2843212"/>
            <a:ext cx="7703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Leading Manufacturers Driving Market • AmpereWorks &amp; CircuitWorks competitive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3337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0675" y="3338512"/>
            <a:ext cx="8084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Customer Engagement Across Categories • Review patterns &amp; 4.0+ satisfaction across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38290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0675" y="3833812"/>
            <a:ext cx="7024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Growth Trend in Annual EV Sales • Multi-year expansion peaking at 20.62M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43243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0675" y="4329112"/>
            <a:ext cx="7870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Battery Technology Market Share • 54% NMC dominance and 10% Sodium-Ion emergence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75" y="48196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0675" y="4824412"/>
            <a:ext cx="776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Global Manufacturing Footprint • Geographic production balance across India, China &amp; 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575" y="531495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Scene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0675" y="5319712"/>
            <a:ext cx="8477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Strategic Business Recommendations • Comprehensive guidance for all three executive personas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34000"/>
            <a:ext cx="10972800" cy="1066800"/>
          </a:xfrm>
          <a:prstGeom prst="roundRect">
            <a:avLst>
              <a:gd name="adj" fmla="val 7142"/>
            </a:avLst>
          </a:prstGeom>
          <a:solidFill>
            <a:srgbClr val="F4FBF5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66962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366962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366962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SCALE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Performance Benchmarks &amp; Volume Stress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5534025"/>
            <a:ext cx="11382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Production Optimization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5800725"/>
            <a:ext cx="1066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Simultaneous filtering by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Manufacturing Country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,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Manufacturer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, and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Category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was tested across 50 iterations. Tableau columnar compression maintained smooth framerates and rapid cross-filtering across all 7 visual sheets.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64318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Records Ingested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881312"/>
            <a:ext cx="3690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200,000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57663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100% loaded without 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64318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Attributes Analyzed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2881312"/>
            <a:ext cx="3690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39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57663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37 base + calculated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264318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Multi-Filter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2881312"/>
            <a:ext cx="36909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5803D"/>
                </a:solidFill>
                <a:latin typeface="Space Grotesk"/>
              </a:rPr>
              <a:t>&lt; 850ms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57663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Instantaneous re-render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9975" y="4120455"/>
            <a:ext cx="4972050" cy="542925"/>
          </a:xfrm>
          <a:prstGeom prst="roundRect">
            <a:avLst>
              <a:gd name="adj" fmla="val 17543"/>
            </a:avLst>
          </a:prstGeom>
          <a:solidFill>
            <a:srgbClr val="1C2B22"/>
          </a:solidFill>
          <a:ln w="9525">
            <a:solidFill>
              <a:srgbClr val="313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5140" y="2194619"/>
            <a:ext cx="2321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4ADE80"/>
                </a:solidFill>
                <a:latin typeface="Space Grotesk"/>
              </a:rPr>
              <a:t>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807" y="2527994"/>
            <a:ext cx="11076384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Data-Driven EV Market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267075"/>
            <a:ext cx="9048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Bridging the gap between raw telemetry and executive strategy through SQL pipelines, Tableau interactive visuals, and embedded Flask web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8812" y="4301430"/>
            <a:ext cx="169437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CBD5E1"/>
                </a:solidFill>
                <a:latin typeface="Inter"/>
              </a:rPr>
              <a:t>Developed by </a:t>
            </a:r>
            <a:r>
              <a:rPr sz="1125" b="1" i="0" u="none" dirty="0">
                <a:solidFill>
                  <a:srgbClr val="FFFFFF"/>
                </a:solidFill>
                <a:latin typeface="Inter"/>
              </a:rPr>
              <a:t>Bhavy Patil</a:t>
            </a:r>
            <a:r>
              <a:rPr sz="1125" b="0" i="0" u="none" dirty="0">
                <a:solidFill>
                  <a:srgbClr val="CBD5E1"/>
                </a:solidFill>
                <a:latin typeface="Inter"/>
              </a:rPr>
              <a:t>  </a:t>
            </a:r>
            <a:r>
              <a:rPr lang="en-IN" sz="1125" b="0" i="0" u="none" dirty="0">
                <a:solidFill>
                  <a:srgbClr val="CBD5E1"/>
                </a:solidFill>
                <a:latin typeface="Inter"/>
              </a:rPr>
              <a:t>|</a:t>
            </a:r>
            <a:endParaRPr sz="1125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615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Space Grotesk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Bhavy Patil</cp:lastModifiedBy>
  <cp:revision>2</cp:revision>
  <dcterms:created xsi:type="dcterms:W3CDTF">2013-01-27T09:14:16Z</dcterms:created>
  <dcterms:modified xsi:type="dcterms:W3CDTF">2026-10-27T19:34:30Z</dcterms:modified>
  <cp:category/>
</cp:coreProperties>
</file>